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CCC14-2219-BB0D-28A5-82F3E1E13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DC92D5-329D-6C52-31D3-F17074727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A00D5-A4F2-20BF-D33D-76B0530DF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92A7-9E87-4923-99A8-1475CBEE00A4}" type="datetimeFigureOut">
              <a:rPr lang="en-IE" smtClean="0"/>
              <a:t>12 Aug 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F0416-ED02-5A0B-0731-B088DAD61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F31DE-745E-F75D-31A7-F697208D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81744-911C-41F4-A0B6-65C5E527F03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40295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EAB79-04A9-CE51-1EE6-3FCA3ADB8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64AB8-10EA-829C-2E59-9FA54FD2E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1C41A-3BE0-DCCE-ECF6-C9879168C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92A7-9E87-4923-99A8-1475CBEE00A4}" type="datetimeFigureOut">
              <a:rPr lang="en-IE" smtClean="0"/>
              <a:t>12 Aug 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676BE-6ACA-ACFF-2CBF-FB167EE77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A4886-54DA-0403-911D-6CF86E468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81744-911C-41F4-A0B6-65C5E527F03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74893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37C1D-5A16-C0A2-57D0-E48661BD8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50DAC-A734-AD87-7325-73278B6FB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FB106-952C-4D29-EE5F-D0FA24823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92A7-9E87-4923-99A8-1475CBEE00A4}" type="datetimeFigureOut">
              <a:rPr lang="en-IE" smtClean="0"/>
              <a:t>12 Aug 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9F6B8-D968-BBDB-B4BC-598589574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16362-83F1-D1DD-B8E9-E681A1C2B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81744-911C-41F4-A0B6-65C5E527F03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1204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8995E-0800-7D6E-D071-C5D544394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2AFF4-A15B-CABC-234C-0E2A2ADD60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842A26-52B0-4795-3D8B-B38FC20A1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53DB9-9DA3-3370-9086-27BC9A6B2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92A7-9E87-4923-99A8-1475CBEE00A4}" type="datetimeFigureOut">
              <a:rPr lang="en-IE" smtClean="0"/>
              <a:t>12 Aug 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98D4B2-A0F4-B0D2-56CA-53F521D98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1C467-4087-7970-5ABF-183C3DEA8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81744-911C-41F4-A0B6-65C5E527F03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50599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9D1D8-BA57-5AE0-35DB-4A73ABD3D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8D221-CD23-8839-D8C5-D6962EBC0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FF5316-1760-2642-3CA1-0A124B6EE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2219F1-51DC-A646-9AEE-9A98AE8119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AD7197-8668-75E8-F929-EE27D683F3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F33CA7-0703-F17E-8357-A272F9384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92A7-9E87-4923-99A8-1475CBEE00A4}" type="datetimeFigureOut">
              <a:rPr lang="en-IE" smtClean="0"/>
              <a:t>12 Aug 2024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B3CBD8-DE32-12A0-E826-04FBF131E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8285BC-7398-7BB2-1A0A-5F0E46B3E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81744-911C-41F4-A0B6-65C5E527F03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32714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740ED-B526-55B0-8432-7AE4263AC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004979-F0DB-0995-225F-CB5D5F7CC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92A7-9E87-4923-99A8-1475CBEE00A4}" type="datetimeFigureOut">
              <a:rPr lang="en-IE" smtClean="0"/>
              <a:t>12 Aug 2024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2DE47E-790A-323B-FD11-4E0417E53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7DF81D-35A5-1FDD-C9B8-FBE479477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81744-911C-41F4-A0B6-65C5E527F03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44825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9E8C72-4698-FFE2-B330-EB6264130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92A7-9E87-4923-99A8-1475CBEE00A4}" type="datetimeFigureOut">
              <a:rPr lang="en-IE" smtClean="0"/>
              <a:t>12 Aug 2024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A06195-B41D-26BB-1A8B-8EB0397B6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9BA60-359D-61CD-9A74-D2C6DDBDA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81744-911C-41F4-A0B6-65C5E527F03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61134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675A9-3F6B-B88F-594F-BFBAFAAF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083D5-8E1E-DF61-28B6-08F162D71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6492C5-3C64-4043-28A5-A243263E6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C45AC-72F0-619B-2623-4F18D6515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92A7-9E87-4923-99A8-1475CBEE00A4}" type="datetimeFigureOut">
              <a:rPr lang="en-IE" smtClean="0"/>
              <a:t>12 Aug 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648E4-753C-B727-347A-21C304278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53ACB-A4A2-7562-1616-CED691EBA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81744-911C-41F4-A0B6-65C5E527F03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13196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56248-CA0C-8AFC-691C-75121D96C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B9941E-31EA-A5B6-0C60-3564832476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18ECC2-6D96-F822-71C9-D9004FD2E3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ECDD5D-D6BD-355A-1197-6C048414B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92A7-9E87-4923-99A8-1475CBEE00A4}" type="datetimeFigureOut">
              <a:rPr lang="en-IE" smtClean="0"/>
              <a:t>12 Aug 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2B9F04-D7E7-2EF4-880E-BC28BE8E6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332E2-08CE-C89B-B1DF-91A4338D4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81744-911C-41F4-A0B6-65C5E527F03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83773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AF872-7284-281A-EDB4-0A040C4D4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191845-D0FC-4C17-AA6C-CF1FDBBF5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3E638-7E66-619B-0043-CC496DEF6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92A7-9E87-4923-99A8-1475CBEE00A4}" type="datetimeFigureOut">
              <a:rPr lang="en-IE" smtClean="0"/>
              <a:t>12 Aug 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6336F-D3B4-5ABA-C135-D6E0F63CA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AB5C6-EA93-EE5C-BF54-191A3B144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81744-911C-41F4-A0B6-65C5E527F03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89876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38D777-27BC-125C-65B4-13880221DB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6A8A26-C36C-4CB1-5C17-5E9500ECE3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9DCD5-2715-8B46-06F8-6949FE911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92A7-9E87-4923-99A8-1475CBEE00A4}" type="datetimeFigureOut">
              <a:rPr lang="en-IE" smtClean="0"/>
              <a:t>12 Aug 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56563-E58F-6EC1-262E-1DB8E9642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98A6B-30FE-CD38-BF87-297C12444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81744-911C-41F4-A0B6-65C5E527F03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38232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074CCC-1AB8-C9C2-C59F-88F156DB1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7B8B8-A4D9-EC4D-0045-DC1D1279C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165C4-EBCF-90FF-B632-54DF73B37B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FC92A7-9E87-4923-99A8-1475CBEE00A4}" type="datetimeFigureOut">
              <a:rPr lang="en-IE" smtClean="0"/>
              <a:t>12 Aug 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2DA7E-9EC3-DE4F-38C3-6CAACDBE75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A219D-ABB5-6EFD-D025-932928B669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781744-911C-41F4-A0B6-65C5E527F03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81954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B315A4-EC82-CABE-5739-4786B52CC358}"/>
              </a:ext>
            </a:extLst>
          </p:cNvPr>
          <p:cNvSpPr/>
          <p:nvPr/>
        </p:nvSpPr>
        <p:spPr>
          <a:xfrm>
            <a:off x="0" y="0"/>
            <a:ext cx="12192000" cy="5003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E4268-93D3-07D9-C960-D00078DB0F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9700" y="0"/>
            <a:ext cx="9144000" cy="41783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Multimodal Depression Detection using Audio and Visual Features</a:t>
            </a:r>
            <a:endParaRPr lang="en-IE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D92EE9-B821-CB9F-EAB2-3AC85018B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202238"/>
            <a:ext cx="12192000" cy="1655762"/>
          </a:xfrm>
        </p:spPr>
        <p:txBody>
          <a:bodyPr/>
          <a:lstStyle/>
          <a:p>
            <a:r>
              <a:rPr lang="en-US" dirty="0"/>
              <a:t>Sachleen Singh Chani</a:t>
            </a:r>
          </a:p>
          <a:p>
            <a:r>
              <a:rPr lang="en-US" dirty="0"/>
              <a:t>x22244778</a:t>
            </a:r>
          </a:p>
          <a:p>
            <a:r>
              <a:rPr lang="en-IE" dirty="0"/>
              <a:t>Supervisor: </a:t>
            </a:r>
            <a:r>
              <a:rPr lang="en-IE" dirty="0" err="1"/>
              <a:t>Dr.</a:t>
            </a:r>
            <a:r>
              <a:rPr lang="en-IE" dirty="0"/>
              <a:t> Muslim Jameel Syed</a:t>
            </a:r>
          </a:p>
        </p:txBody>
      </p:sp>
    </p:spTree>
    <p:extLst>
      <p:ext uri="{BB962C8B-B14F-4D97-AF65-F5344CB8AC3E}">
        <p14:creationId xmlns:p14="http://schemas.microsoft.com/office/powerpoint/2010/main" val="1083797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B315A4-EC82-CABE-5739-4786B52CC358}"/>
              </a:ext>
            </a:extLst>
          </p:cNvPr>
          <p:cNvSpPr/>
          <p:nvPr/>
        </p:nvSpPr>
        <p:spPr>
          <a:xfrm>
            <a:off x="0" y="0"/>
            <a:ext cx="12192000" cy="12827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E4268-93D3-07D9-C960-D00078DB0F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9700" y="0"/>
            <a:ext cx="9144000" cy="11557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Introduction</a:t>
            </a:r>
            <a:endParaRPr lang="en-IE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D92EE9-B821-CB9F-EAB2-3AC85018B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9700" y="1651000"/>
            <a:ext cx="8712200" cy="3746500"/>
          </a:xfrm>
        </p:spPr>
        <p:txBody>
          <a:bodyPr>
            <a:normAutofit fontScale="85000" lnSpcReduction="10000"/>
          </a:bodyPr>
          <a:lstStyle/>
          <a:p>
            <a:pPr algn="l"/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E" dirty="0"/>
              <a:t>Depression Detection lacks awareness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E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E" dirty="0"/>
              <a:t>Single modality doesn’t get a complete understanding of the features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E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E" dirty="0"/>
              <a:t>Multimodal system for depression classification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E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E" dirty="0"/>
              <a:t>Proposed </a:t>
            </a:r>
            <a:r>
              <a:rPr lang="en-IE" dirty="0" err="1"/>
              <a:t>BiLSTM</a:t>
            </a:r>
            <a:r>
              <a:rPr lang="en-IE" dirty="0"/>
              <a:t> with attention model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E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E" dirty="0"/>
              <a:t>Evaluating the model based on key metrics like false negative rates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E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975764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B315A4-EC82-CABE-5739-4786B52CC358}"/>
              </a:ext>
            </a:extLst>
          </p:cNvPr>
          <p:cNvSpPr/>
          <p:nvPr/>
        </p:nvSpPr>
        <p:spPr>
          <a:xfrm>
            <a:off x="0" y="0"/>
            <a:ext cx="12192000" cy="12827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E4268-93D3-07D9-C960-D00078DB0F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9700" y="0"/>
            <a:ext cx="9144000" cy="11557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Methodology</a:t>
            </a:r>
            <a:endParaRPr lang="en-IE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D92EE9-B821-CB9F-EAB2-3AC85018B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9700" y="1854200"/>
            <a:ext cx="8712200" cy="374650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E" dirty="0"/>
              <a:t>Audio feature extraction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E" dirty="0"/>
              <a:t>Video feature extraction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E" dirty="0"/>
              <a:t>Dataset creation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E" dirty="0"/>
              <a:t>Single modality models: Random forest, </a:t>
            </a:r>
            <a:r>
              <a:rPr lang="en-IE" dirty="0" err="1"/>
              <a:t>LightGBM</a:t>
            </a:r>
            <a:r>
              <a:rPr lang="en-IE" dirty="0"/>
              <a:t>, FFNN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E" dirty="0"/>
              <a:t>Multi-modal: </a:t>
            </a:r>
            <a:r>
              <a:rPr lang="en-IE" dirty="0" err="1"/>
              <a:t>BiLSTM</a:t>
            </a:r>
            <a:r>
              <a:rPr lang="en-IE" dirty="0"/>
              <a:t> with Attention layer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E" dirty="0"/>
              <a:t>Evaluation based on key metrics</a:t>
            </a:r>
          </a:p>
        </p:txBody>
      </p:sp>
    </p:spTree>
    <p:extLst>
      <p:ext uri="{BB962C8B-B14F-4D97-AF65-F5344CB8AC3E}">
        <p14:creationId xmlns:p14="http://schemas.microsoft.com/office/powerpoint/2010/main" val="2588437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B315A4-EC82-CABE-5739-4786B52CC358}"/>
              </a:ext>
            </a:extLst>
          </p:cNvPr>
          <p:cNvSpPr/>
          <p:nvPr/>
        </p:nvSpPr>
        <p:spPr>
          <a:xfrm>
            <a:off x="0" y="0"/>
            <a:ext cx="12192000" cy="12827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E4268-93D3-07D9-C960-D00078DB0F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9700" y="0"/>
            <a:ext cx="9144000" cy="11557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Research Design</a:t>
            </a:r>
            <a:endParaRPr lang="en-IE" dirty="0">
              <a:solidFill>
                <a:schemeClr val="bg1"/>
              </a:solidFill>
            </a:endParaRPr>
          </a:p>
        </p:txBody>
      </p:sp>
      <p:pic>
        <p:nvPicPr>
          <p:cNvPr id="8" name="Picture 7" descr="A diagram of a video feature&#10;&#10;Description automatically generated">
            <a:extLst>
              <a:ext uri="{FF2B5EF4-FFF2-40B4-BE49-F238E27FC236}">
                <a16:creationId xmlns:a16="http://schemas.microsoft.com/office/drawing/2014/main" id="{FFC529D7-83D7-F606-41BA-FF5026A15E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012" y="2289174"/>
            <a:ext cx="10522344" cy="345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455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B315A4-EC82-CABE-5739-4786B52CC358}"/>
              </a:ext>
            </a:extLst>
          </p:cNvPr>
          <p:cNvSpPr/>
          <p:nvPr/>
        </p:nvSpPr>
        <p:spPr>
          <a:xfrm>
            <a:off x="0" y="0"/>
            <a:ext cx="12192000" cy="12827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E4268-93D3-07D9-C960-D00078DB0F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9700" y="0"/>
            <a:ext cx="9144000" cy="11557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Proposed Model Design</a:t>
            </a:r>
            <a:endParaRPr lang="en-IE" dirty="0">
              <a:solidFill>
                <a:schemeClr val="bg1"/>
              </a:solidFill>
            </a:endParaRPr>
          </a:p>
        </p:txBody>
      </p:sp>
      <p:pic>
        <p:nvPicPr>
          <p:cNvPr id="6" name="Picture 5" descr="A diagram of a company&#10;&#10;Description automatically generated">
            <a:extLst>
              <a:ext uri="{FF2B5EF4-FFF2-40B4-BE49-F238E27FC236}">
                <a16:creationId xmlns:a16="http://schemas.microsoft.com/office/drawing/2014/main" id="{31D4763F-85F6-36BD-A0AC-8FB49098F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2222500"/>
            <a:ext cx="11163300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723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B315A4-EC82-CABE-5739-4786B52CC358}"/>
              </a:ext>
            </a:extLst>
          </p:cNvPr>
          <p:cNvSpPr/>
          <p:nvPr/>
        </p:nvSpPr>
        <p:spPr>
          <a:xfrm>
            <a:off x="0" y="0"/>
            <a:ext cx="12192000" cy="12827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E4268-93D3-07D9-C960-D00078DB0F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9700" y="0"/>
            <a:ext cx="9144000" cy="11557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Evaluation and Results</a:t>
            </a:r>
            <a:endParaRPr lang="en-IE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08BE76-F062-B50F-291D-419BAB4ED7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9023"/>
          <a:stretch/>
        </p:blipFill>
        <p:spPr>
          <a:xfrm>
            <a:off x="1070358" y="1849314"/>
            <a:ext cx="10051281" cy="1079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287D1D-C84A-6FFC-B7AB-15D8D78269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047" t="-13561" r="1047" b="14329"/>
          <a:stretch/>
        </p:blipFill>
        <p:spPr>
          <a:xfrm>
            <a:off x="1011061" y="2657514"/>
            <a:ext cx="10110578" cy="9763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55697B-0317-5D30-47BC-3F70CB65401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042"/>
          <a:stretch/>
        </p:blipFill>
        <p:spPr>
          <a:xfrm>
            <a:off x="1089053" y="4651724"/>
            <a:ext cx="10032586" cy="71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968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B315A4-EC82-CABE-5739-4786B52CC358}"/>
              </a:ext>
            </a:extLst>
          </p:cNvPr>
          <p:cNvSpPr/>
          <p:nvPr/>
        </p:nvSpPr>
        <p:spPr>
          <a:xfrm>
            <a:off x="0" y="0"/>
            <a:ext cx="12192000" cy="12827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E4268-93D3-07D9-C960-D00078DB0F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9700" y="0"/>
            <a:ext cx="9144000" cy="11557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Limitations and Future Scope</a:t>
            </a:r>
            <a:endParaRPr lang="en-IE" dirty="0">
              <a:solidFill>
                <a:schemeClr val="bg1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5D1D597-B724-E83C-C883-28F9F2435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9700" y="1854200"/>
            <a:ext cx="8712200" cy="374650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Limitations: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E" dirty="0"/>
              <a:t>Model only evaluated on one dataset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E" dirty="0"/>
              <a:t>High dependency on the data preprocessing</a:t>
            </a:r>
          </a:p>
          <a:p>
            <a:pPr algn="l"/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Future Scope: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E" dirty="0"/>
              <a:t>Incorporate text modality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E" dirty="0"/>
              <a:t>Use of pretrained models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E" dirty="0"/>
              <a:t>Increase generalization of the model through multiple datasets </a:t>
            </a:r>
            <a:r>
              <a:rPr lang="en-IE"/>
              <a:t>for training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311913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B315A4-EC82-CABE-5739-4786B52CC358}"/>
              </a:ext>
            </a:extLst>
          </p:cNvPr>
          <p:cNvSpPr/>
          <p:nvPr/>
        </p:nvSpPr>
        <p:spPr>
          <a:xfrm>
            <a:off x="0" y="0"/>
            <a:ext cx="12192000" cy="12827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E4268-93D3-07D9-C960-D00078DB0F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2142" y="2439649"/>
            <a:ext cx="10147716" cy="1978702"/>
          </a:xfrm>
        </p:spPr>
        <p:txBody>
          <a:bodyPr>
            <a:normAutofit/>
          </a:bodyPr>
          <a:lstStyle/>
          <a:p>
            <a:r>
              <a:rPr lang="en-US" sz="8500" dirty="0"/>
              <a:t>Thank you</a:t>
            </a:r>
            <a:endParaRPr lang="en-IE" sz="8500" dirty="0"/>
          </a:p>
        </p:txBody>
      </p:sp>
    </p:spTree>
    <p:extLst>
      <p:ext uri="{BB962C8B-B14F-4D97-AF65-F5344CB8AC3E}">
        <p14:creationId xmlns:p14="http://schemas.microsoft.com/office/powerpoint/2010/main" val="3814309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133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Multimodal Depression Detection using Audio and Visual Features</vt:lpstr>
      <vt:lpstr>Introduction</vt:lpstr>
      <vt:lpstr>Methodology</vt:lpstr>
      <vt:lpstr>Research Design</vt:lpstr>
      <vt:lpstr>Proposed Model Design</vt:lpstr>
      <vt:lpstr>Evaluation and Results</vt:lpstr>
      <vt:lpstr>Limitations and 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Sachleen Chani</dc:creator>
  <cp:lastModifiedBy>Sachleen Chani</cp:lastModifiedBy>
  <cp:revision>7</cp:revision>
  <dcterms:created xsi:type="dcterms:W3CDTF">2024-08-12T11:03:00Z</dcterms:created>
  <dcterms:modified xsi:type="dcterms:W3CDTF">2024-08-12T11:47:42Z</dcterms:modified>
</cp:coreProperties>
</file>